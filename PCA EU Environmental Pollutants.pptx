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21"/>
  </p:notesMasterIdLst>
  <p:sldIdLst>
    <p:sldId id="258" r:id="rId2"/>
    <p:sldId id="275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0000"/>
    <a:srgbClr val="178E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552" autoAdjust="0"/>
  </p:normalViewPr>
  <p:slideViewPr>
    <p:cSldViewPr snapToGrid="0">
      <p:cViewPr varScale="1">
        <p:scale>
          <a:sx n="76" d="100"/>
          <a:sy n="76" d="100"/>
        </p:scale>
        <p:origin x="86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03T15:35:26.31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0,'31011'0,"-30974"0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76F020-E30E-40ED-AEE3-35B6279ADCA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4B4E79-8A6F-4257-93F6-883FC7A81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218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4B4E79-8A6F-4257-93F6-883FC7A81EB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4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4B4E79-8A6F-4257-93F6-883FC7A81EB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913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4B4E79-8A6F-4257-93F6-883FC7A81EB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33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720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825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285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55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357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68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145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048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550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476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38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06328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hda.com/english/articles/31-principal-component-methods-in-r-practical-guide/112-pca-principal-component-analysis-essentials/?fbclid=IwAR0N-B0uX3has3lFm1krrq8ifIkzdtRxv2p1Q6lAHnCCuW6GwL4Q8IQT4Nw" TargetMode="External"/><Relationship Id="rId7" Type="http://schemas.openxmlformats.org/officeDocument/2006/relationships/hyperlink" Target="https://personal.utdallas.edu/~herve/abdi-awPCA2010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publication/328934570_Principal_Component_Analysis_in_the_Study_of_Structure_of_the_Best_Polish_Decathlon_Competitors_from_the_Period_between_1985-2015" TargetMode="External"/><Relationship Id="rId5" Type="http://schemas.openxmlformats.org/officeDocument/2006/relationships/hyperlink" Target="https://eclass.uoa.gr/modules/document/file.php/EDS143/%CE%94%CE%B7%CE%BC%CE%AE%CF%84%CF%81%CE%B9%CE%BF%CF%82%20%CE%9A%CE%B1%CF%81%CE%BB%CE%AE%CF%82%20-%20%CE%A0%CE%BF%CE%BB%CF%85%CE%BC%CE%B5%CF%84%CE%B1%CE%B2%CE%BB%CE%B7%CF%84%CE%AE%20%CE%A3%CF%84%CE%B1%CF%84%CE%B9%CF%83%CF%84%CE%B9%CE%BA%CE%AE%20%CE%91%CE%BD%CE%AC%CE%BB%CF%85%CF%83%CE%B7%20%282003%29.pdf" TargetMode="External"/><Relationship Id="rId4" Type="http://schemas.openxmlformats.org/officeDocument/2006/relationships/hyperlink" Target="http://www.sthda.com/english/articles/31-principal-component-methods-in-r-practical-guide/118-principal-component-analysis-in-r-prcomp-vs-princomp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7BFDF-1922-7344-5CD1-314D4ADABC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5" y="761303"/>
            <a:ext cx="10993549" cy="2090323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Eu environmental pollutants</a:t>
            </a:r>
            <a:br>
              <a:rPr lang="el-GR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D9E442-D3E4-41CD-7D98-0751E8F024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742" y="3549245"/>
            <a:ext cx="10993546" cy="1395238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Corbel" panose="020B0503020204020204" pitchFamily="34" charset="0"/>
              </a:rPr>
              <a:t>Principal component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926D2C-C43F-9A92-6AD3-6004E37DF6A0}"/>
              </a:ext>
            </a:extLst>
          </p:cNvPr>
          <p:cNvSpPr txBox="1"/>
          <p:nvPr/>
        </p:nvSpPr>
        <p:spPr>
          <a:xfrm>
            <a:off x="3941054" y="4944483"/>
            <a:ext cx="40949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Corbel" panose="020B0503020204020204" pitchFamily="34" charset="0"/>
              </a:rPr>
              <a:t>Evangjeli Suku</a:t>
            </a:r>
          </a:p>
        </p:txBody>
      </p:sp>
    </p:spTree>
    <p:extLst>
      <p:ext uri="{BB962C8B-B14F-4D97-AF65-F5344CB8AC3E}">
        <p14:creationId xmlns:p14="http://schemas.microsoft.com/office/powerpoint/2010/main" val="3722649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9281C8-C3C0-5EB0-4A8A-EA0617A75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48683"/>
            <a:ext cx="11029616" cy="988332"/>
          </a:xfrm>
        </p:spPr>
        <p:txBody>
          <a:bodyPr>
            <a:normAutofit/>
          </a:bodyPr>
          <a:lstStyle/>
          <a:p>
            <a:pPr algn="ctr"/>
            <a:r>
              <a:rPr lang="en-US" sz="3200" b="1" cap="none" dirty="0">
                <a:latin typeface="Corbel" panose="020B0503020204020204" pitchFamily="34" charset="0"/>
              </a:rPr>
              <a:t>Principal Component Analysis </a:t>
            </a:r>
            <a:r>
              <a:rPr lang="el-GR" sz="3200" b="1" cap="none" dirty="0">
                <a:latin typeface="Corbel" panose="020B0503020204020204" pitchFamily="34" charset="0"/>
              </a:rPr>
              <a:t>(</a:t>
            </a:r>
            <a:r>
              <a:rPr lang="en-US" sz="3200" b="1" cap="none" dirty="0">
                <a:latin typeface="Corbel" panose="020B0503020204020204" pitchFamily="34" charset="0"/>
              </a:rPr>
              <a:t>PCA)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93512C-E0D0-0561-72AE-061339D3838C}"/>
              </a:ext>
            </a:extLst>
          </p:cNvPr>
          <p:cNvSpPr txBox="1"/>
          <p:nvPr/>
        </p:nvSpPr>
        <p:spPr>
          <a:xfrm>
            <a:off x="442128" y="1982450"/>
            <a:ext cx="11503563" cy="441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dirty="0"/>
              <a:t> </a:t>
            </a:r>
            <a:r>
              <a:rPr lang="en-US" sz="2400" b="1" dirty="0">
                <a:latin typeface="Corbel" panose="020B0503020204020204" pitchFamily="34" charset="0"/>
              </a:rPr>
              <a:t>PCA (Principal Component Analysis) is a dimensionality‑reduction method.</a:t>
            </a:r>
            <a:r>
              <a:rPr lang="en-US" sz="2400" dirty="0">
                <a:latin typeface="Corbel" panose="020B0503020204020204" pitchFamily="34" charset="0"/>
              </a:rPr>
              <a:t> It creates uncorrelated linear combinations of the original variables, while retaining most of the original variance.</a:t>
            </a:r>
          </a:p>
          <a:p>
            <a:pPr>
              <a:lnSpc>
                <a:spcPct val="150000"/>
              </a:lnSpc>
            </a:pPr>
            <a:r>
              <a:rPr lang="en-US" sz="2400" b="1" u="sng" dirty="0">
                <a:latin typeface="Corbel" panose="020B0503020204020204" pitchFamily="34" charset="0"/>
              </a:rPr>
              <a:t>For this analysis here are the steps that we will follow: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Corbel" panose="020B0503020204020204" pitchFamily="34" charset="0"/>
              </a:rPr>
              <a:t>Check </a:t>
            </a:r>
            <a:r>
              <a:rPr lang="en-US" sz="2400" b="1" dirty="0">
                <a:latin typeface="Corbel" panose="020B0503020204020204" pitchFamily="34" charset="0"/>
              </a:rPr>
              <a:t>correlation </a:t>
            </a:r>
            <a:r>
              <a:rPr lang="en-US" sz="2400" dirty="0">
                <a:latin typeface="Corbel" panose="020B0503020204020204" pitchFamily="34" charset="0"/>
              </a:rPr>
              <a:t>among variables</a:t>
            </a:r>
            <a:endParaRPr lang="el-GR" sz="2400" dirty="0">
              <a:latin typeface="Corbel" panose="020B05030202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orbel" panose="020B0503020204020204" pitchFamily="34" charset="0"/>
              </a:rPr>
              <a:t>Computation of </a:t>
            </a:r>
            <a:r>
              <a:rPr lang="en-US" sz="2400" b="1" dirty="0">
                <a:latin typeface="Corbel" panose="020B0503020204020204" pitchFamily="34" charset="0"/>
              </a:rPr>
              <a:t>eigenvalues</a:t>
            </a:r>
            <a:endParaRPr lang="el-GR" sz="2400" b="1" dirty="0">
              <a:latin typeface="Corbel" panose="020B05030202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orbel" panose="020B0503020204020204" pitchFamily="34" charset="0"/>
              </a:rPr>
              <a:t>How many principal components do we keep? (</a:t>
            </a:r>
            <a:r>
              <a:rPr lang="en-US" sz="2400" b="1" dirty="0">
                <a:latin typeface="Corbel" panose="020B0503020204020204" pitchFamily="34" charset="0"/>
              </a:rPr>
              <a:t>Kaiser criterion</a:t>
            </a:r>
            <a:r>
              <a:rPr lang="en-US" sz="2400" dirty="0">
                <a:latin typeface="Corbel" panose="020B0503020204020204" pitchFamily="34" charset="0"/>
              </a:rPr>
              <a:t>, </a:t>
            </a:r>
            <a:r>
              <a:rPr lang="en-US" sz="2400" b="1" dirty="0">
                <a:latin typeface="Corbel" panose="020B0503020204020204" pitchFamily="34" charset="0"/>
              </a:rPr>
              <a:t>Scree Plot</a:t>
            </a:r>
            <a:r>
              <a:rPr lang="en-US" sz="2400" dirty="0">
                <a:latin typeface="Corbel" panose="020B0503020204020204" pitchFamily="34" charset="0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orbel" panose="020B0503020204020204" pitchFamily="34" charset="0"/>
              </a:rPr>
              <a:t>Cos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2, contribution and</a:t>
            </a:r>
            <a:r>
              <a:rPr lang="el-G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coordinates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Barchar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of</a:t>
            </a:r>
            <a:r>
              <a:rPr lang="el-G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cos2 and variable contribution for</a:t>
            </a:r>
            <a:r>
              <a:rPr lang="el-G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PC1 and PC2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Correlation Plot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Biplot (observations-variables)</a:t>
            </a:r>
            <a:endParaRPr lang="el-G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810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57C0C6-2F3B-F428-C6EB-4EF4987E3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1021" y="5386632"/>
            <a:ext cx="10560423" cy="896470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this dataset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28 EU member countries</a:t>
            </a:r>
            <a:r>
              <a:rPr lang="el-G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years: </a:t>
            </a:r>
            <a:r>
              <a:rPr lang="el-G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1995-2015,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 variables, 308 observations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DB031AC-E115-C740-4CB1-57D0DD9C0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99" y="204715"/>
            <a:ext cx="11344276" cy="533409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319AD2F-AC9E-A627-830C-D53FA93FA8D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59" t="6544" r="-155" b="18018"/>
          <a:stretch/>
        </p:blipFill>
        <p:spPr>
          <a:xfrm>
            <a:off x="1187247" y="6110342"/>
            <a:ext cx="9807969" cy="676275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B27825D8-3AFD-B3BC-E8B3-261077736A0F}"/>
              </a:ext>
            </a:extLst>
          </p:cNvPr>
          <p:cNvSpPr/>
          <p:nvPr/>
        </p:nvSpPr>
        <p:spPr>
          <a:xfrm>
            <a:off x="1196784" y="6110343"/>
            <a:ext cx="9807969" cy="6762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77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EAC8EF-3376-2D83-AC90-862147FB3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89" y="633678"/>
            <a:ext cx="11029616" cy="566738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err="1"/>
              <a:t>Correlatioin</a:t>
            </a:r>
            <a:r>
              <a:rPr lang="en-US" sz="3200" b="1" dirty="0"/>
              <a:t> matrix</a:t>
            </a:r>
            <a:endParaRPr lang="en-US" sz="3200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3C86B4F-948F-24C3-F23C-ED2AC9A0B7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0568" y="2383701"/>
            <a:ext cx="11290859" cy="3557252"/>
          </a:xfrm>
        </p:spPr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C503A9E-A6A9-AFBE-EDA3-8AF072DDD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8828" y="55458"/>
            <a:ext cx="11474338" cy="693295"/>
          </a:xfrm>
        </p:spPr>
        <p:txBody>
          <a:bodyPr/>
          <a:lstStyle/>
          <a:p>
            <a:r>
              <a:rPr lang="en-US" sz="2000" dirty="0">
                <a:solidFill>
                  <a:srgbClr val="178EC3"/>
                </a:solidFill>
              </a:rPr>
              <a:t>&gt; </a:t>
            </a:r>
            <a:r>
              <a:rPr lang="en-US" sz="2000" dirty="0" err="1">
                <a:solidFill>
                  <a:srgbClr val="178EC3"/>
                </a:solidFill>
              </a:rPr>
              <a:t>cor</a:t>
            </a:r>
            <a:r>
              <a:rPr lang="en-US" sz="2000" dirty="0">
                <a:solidFill>
                  <a:srgbClr val="178EC3"/>
                </a:solidFill>
              </a:rPr>
              <a:t>(environment)</a:t>
            </a:r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94CBA80-D204-30F6-8797-F79CB4A1E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328067"/>
              </p:ext>
            </p:extLst>
          </p:nvPr>
        </p:nvGraphicFramePr>
        <p:xfrm>
          <a:off x="266698" y="1289139"/>
          <a:ext cx="11658598" cy="54002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1521">
                  <a:extLst>
                    <a:ext uri="{9D8B030D-6E8A-4147-A177-3AD203B41FA5}">
                      <a16:colId xmlns:a16="http://schemas.microsoft.com/office/drawing/2014/main" val="3930375060"/>
                    </a:ext>
                  </a:extLst>
                </a:gridCol>
                <a:gridCol w="1565767">
                  <a:extLst>
                    <a:ext uri="{9D8B030D-6E8A-4147-A177-3AD203B41FA5}">
                      <a16:colId xmlns:a16="http://schemas.microsoft.com/office/drawing/2014/main" val="3533617028"/>
                    </a:ext>
                  </a:extLst>
                </a:gridCol>
                <a:gridCol w="1602582">
                  <a:extLst>
                    <a:ext uri="{9D8B030D-6E8A-4147-A177-3AD203B41FA5}">
                      <a16:colId xmlns:a16="http://schemas.microsoft.com/office/drawing/2014/main" val="497341861"/>
                    </a:ext>
                  </a:extLst>
                </a:gridCol>
                <a:gridCol w="1638168">
                  <a:extLst>
                    <a:ext uri="{9D8B030D-6E8A-4147-A177-3AD203B41FA5}">
                      <a16:colId xmlns:a16="http://schemas.microsoft.com/office/drawing/2014/main" val="3124236020"/>
                    </a:ext>
                  </a:extLst>
                </a:gridCol>
                <a:gridCol w="911731">
                  <a:extLst>
                    <a:ext uri="{9D8B030D-6E8A-4147-A177-3AD203B41FA5}">
                      <a16:colId xmlns:a16="http://schemas.microsoft.com/office/drawing/2014/main" val="3451647607"/>
                    </a:ext>
                  </a:extLst>
                </a:gridCol>
                <a:gridCol w="1273721">
                  <a:extLst>
                    <a:ext uri="{9D8B030D-6E8A-4147-A177-3AD203B41FA5}">
                      <a16:colId xmlns:a16="http://schemas.microsoft.com/office/drawing/2014/main" val="809652328"/>
                    </a:ext>
                  </a:extLst>
                </a:gridCol>
                <a:gridCol w="1638168">
                  <a:extLst>
                    <a:ext uri="{9D8B030D-6E8A-4147-A177-3AD203B41FA5}">
                      <a16:colId xmlns:a16="http://schemas.microsoft.com/office/drawing/2014/main" val="1278214797"/>
                    </a:ext>
                  </a:extLst>
                </a:gridCol>
                <a:gridCol w="1636940">
                  <a:extLst>
                    <a:ext uri="{9D8B030D-6E8A-4147-A177-3AD203B41FA5}">
                      <a16:colId xmlns:a16="http://schemas.microsoft.com/office/drawing/2014/main" val="2622510709"/>
                    </a:ext>
                  </a:extLst>
                </a:gridCol>
              </a:tblGrid>
              <a:tr h="7187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CO2_PC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Real_GDP</a:t>
                      </a:r>
                      <a:endParaRPr lang="el-GR" sz="1800" dirty="0">
                        <a:effectLst/>
                      </a:endParaRPr>
                    </a:p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_PC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Population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Crop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Animal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GDP_K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NRG</a:t>
                      </a:r>
                      <a:endParaRPr lang="el-GR" sz="1800" dirty="0">
                        <a:effectLst/>
                      </a:endParaRPr>
                    </a:p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_consumption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1" marR="64051" marT="0" marB="0" anchor="ctr"/>
                </a:tc>
                <a:extLst>
                  <a:ext uri="{0D108BD9-81ED-4DB2-BD59-A6C34878D82A}">
                    <a16:rowId xmlns:a16="http://schemas.microsoft.com/office/drawing/2014/main" val="510687442"/>
                  </a:ext>
                </a:extLst>
              </a:tr>
              <a:tr h="718733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CO2_PC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1.00000000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-0.08880114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-0.16869977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-0.08880114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-0.10126399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extLst>
                  <a:ext uri="{0D108BD9-81ED-4DB2-BD59-A6C34878D82A}">
                    <a16:rowId xmlns:a16="http://schemas.microsoft.com/office/drawing/2014/main" val="2342775837"/>
                  </a:ext>
                </a:extLst>
              </a:tr>
              <a:tr h="718733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err="1">
                          <a:effectLst/>
                        </a:rPr>
                        <a:t>Real_GDP</a:t>
                      </a:r>
                      <a:endParaRPr lang="el-GR" sz="1500" dirty="0">
                        <a:effectLst/>
                      </a:endParaRPr>
                    </a:p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_PC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-0.08880114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1.00000000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-0.09110975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1.00000000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-0.11247201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extLst>
                  <a:ext uri="{0D108BD9-81ED-4DB2-BD59-A6C34878D82A}">
                    <a16:rowId xmlns:a16="http://schemas.microsoft.com/office/drawing/2014/main" val="1644972729"/>
                  </a:ext>
                </a:extLst>
              </a:tr>
              <a:tr h="718733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Population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-0.16869977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-0.09110975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1.00000000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-0.09110975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0.97419868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extLst>
                  <a:ext uri="{0D108BD9-81ED-4DB2-BD59-A6C34878D82A}">
                    <a16:rowId xmlns:a16="http://schemas.microsoft.com/office/drawing/2014/main" val="425299237"/>
                  </a:ext>
                </a:extLst>
              </a:tr>
              <a:tr h="47437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Crop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extLst>
                  <a:ext uri="{0D108BD9-81ED-4DB2-BD59-A6C34878D82A}">
                    <a16:rowId xmlns:a16="http://schemas.microsoft.com/office/drawing/2014/main" val="2870251872"/>
                  </a:ext>
                </a:extLst>
              </a:tr>
              <a:tr h="47437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Animal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1.000000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extLst>
                  <a:ext uri="{0D108BD9-81ED-4DB2-BD59-A6C34878D82A}">
                    <a16:rowId xmlns:a16="http://schemas.microsoft.com/office/drawing/2014/main" val="2196363036"/>
                  </a:ext>
                </a:extLst>
              </a:tr>
              <a:tr h="718733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GDP_K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-0.08880114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1.00000000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-0.09110975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1.00000000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-0.1124720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extLst>
                  <a:ext uri="{0D108BD9-81ED-4DB2-BD59-A6C34878D82A}">
                    <a16:rowId xmlns:a16="http://schemas.microsoft.com/office/drawing/2014/main" val="2439746150"/>
                  </a:ext>
                </a:extLst>
              </a:tr>
              <a:tr h="85778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NRG _consumption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-0.10126399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-0.11247201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0.97419868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-0.1124720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1.00000000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51" marR="64051" marT="0" marB="0" anchor="ctr"/>
                </a:tc>
                <a:extLst>
                  <a:ext uri="{0D108BD9-81ED-4DB2-BD59-A6C34878D82A}">
                    <a16:rowId xmlns:a16="http://schemas.microsoft.com/office/drawing/2014/main" val="235634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867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643A-FAC5-93FA-3F21-0B89A5E40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89323"/>
            <a:ext cx="11029616" cy="628641"/>
          </a:xfrm>
        </p:spPr>
        <p:txBody>
          <a:bodyPr>
            <a:noAutofit/>
          </a:bodyPr>
          <a:lstStyle/>
          <a:p>
            <a:pPr algn="ctr"/>
            <a:r>
              <a:rPr lang="el-GR" sz="3200" b="1" dirty="0"/>
              <a:t>  </a:t>
            </a:r>
            <a:r>
              <a:rPr lang="en-US" sz="3200" b="1" dirty="0"/>
              <a:t>eigenvalue</a:t>
            </a:r>
            <a:r>
              <a:rPr lang="el-GR" sz="3200" b="1" dirty="0"/>
              <a:t>  |  </a:t>
            </a:r>
            <a:r>
              <a:rPr lang="en-US" sz="3200" b="1" dirty="0"/>
              <a:t>Variance</a:t>
            </a:r>
            <a:r>
              <a:rPr lang="el-GR" sz="3200" b="1" dirty="0"/>
              <a:t>  |  </a:t>
            </a:r>
            <a:r>
              <a:rPr lang="en-US" sz="3200" b="1" dirty="0" err="1"/>
              <a:t>comulative</a:t>
            </a:r>
            <a:r>
              <a:rPr lang="en-US" sz="3200" b="1" dirty="0"/>
              <a:t> var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F24383-F403-4B03-58F1-5D8A17595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829255"/>
              </p:ext>
            </p:extLst>
          </p:nvPr>
        </p:nvGraphicFramePr>
        <p:xfrm>
          <a:off x="507225" y="1267513"/>
          <a:ext cx="11191132" cy="49026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14564">
                  <a:extLst>
                    <a:ext uri="{9D8B030D-6E8A-4147-A177-3AD203B41FA5}">
                      <a16:colId xmlns:a16="http://schemas.microsoft.com/office/drawing/2014/main" val="4203705024"/>
                    </a:ext>
                  </a:extLst>
                </a:gridCol>
                <a:gridCol w="2693423">
                  <a:extLst>
                    <a:ext uri="{9D8B030D-6E8A-4147-A177-3AD203B41FA5}">
                      <a16:colId xmlns:a16="http://schemas.microsoft.com/office/drawing/2014/main" val="743263859"/>
                    </a:ext>
                  </a:extLst>
                </a:gridCol>
                <a:gridCol w="3176706">
                  <a:extLst>
                    <a:ext uri="{9D8B030D-6E8A-4147-A177-3AD203B41FA5}">
                      <a16:colId xmlns:a16="http://schemas.microsoft.com/office/drawing/2014/main" val="1229287031"/>
                    </a:ext>
                  </a:extLst>
                </a:gridCol>
                <a:gridCol w="3806439">
                  <a:extLst>
                    <a:ext uri="{9D8B030D-6E8A-4147-A177-3AD203B41FA5}">
                      <a16:colId xmlns:a16="http://schemas.microsoft.com/office/drawing/2014/main" val="2605400035"/>
                    </a:ext>
                  </a:extLst>
                </a:gridCol>
              </a:tblGrid>
              <a:tr h="1075323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</a:rPr>
                        <a:t>eigenvalue</a:t>
                      </a:r>
                      <a:endParaRPr lang="en-US" sz="18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+mj-lt"/>
                        </a:rPr>
                        <a:t>variance.percent</a:t>
                      </a:r>
                      <a:endParaRPr lang="en-US" sz="18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+mj-lt"/>
                        </a:rPr>
                        <a:t>cumulative.variance.percent</a:t>
                      </a:r>
                      <a:endParaRPr lang="en-US" sz="18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31022039"/>
                  </a:ext>
                </a:extLst>
              </a:tr>
              <a:tr h="5406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</a:rPr>
                        <a:t>Dim.1</a:t>
                      </a:r>
                      <a:endParaRPr lang="en-US" sz="18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2.244875</a:t>
                      </a:r>
                      <a:endParaRPr lang="en-US" sz="1800" b="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32.06964</a:t>
                      </a:r>
                      <a:endParaRPr lang="en-US" sz="1800" b="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+mn-lt"/>
                          <a:cs typeface="Calibri" panose="020F0502020204030204" pitchFamily="34" charset="0"/>
                        </a:rPr>
                        <a:t>32.06964</a:t>
                      </a:r>
                      <a:endParaRPr lang="en-US" sz="1800" b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41750764"/>
                  </a:ext>
                </a:extLst>
              </a:tr>
              <a:tr h="5406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</a:rPr>
                        <a:t>Dim.2</a:t>
                      </a:r>
                      <a:endParaRPr lang="en-US" sz="18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1.846508</a:t>
                      </a:r>
                      <a:endParaRPr lang="en-US" sz="1800" b="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26</a:t>
                      </a:r>
                      <a:r>
                        <a:rPr lang="el-GR" sz="1800" b="0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.</a:t>
                      </a:r>
                      <a:r>
                        <a:rPr lang="en-US" sz="1800" b="0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37869</a:t>
                      </a:r>
                      <a:endParaRPr lang="en-US" sz="1800" b="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+mn-lt"/>
                          <a:cs typeface="Calibri" panose="020F0502020204030204" pitchFamily="34" charset="0"/>
                        </a:rPr>
                        <a:t>58.44833</a:t>
                      </a:r>
                      <a:endParaRPr lang="en-US" sz="1800" b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84716358"/>
                  </a:ext>
                </a:extLst>
              </a:tr>
              <a:tr h="5639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</a:rPr>
                        <a:t>Dim.3</a:t>
                      </a:r>
                      <a:endParaRPr lang="en-US" sz="18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1.212152</a:t>
                      </a:r>
                      <a:endParaRPr lang="en-US" sz="1800" b="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17.31646</a:t>
                      </a:r>
                      <a:endParaRPr lang="en-US" sz="1800" b="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+mn-lt"/>
                          <a:cs typeface="Calibri" panose="020F0502020204030204" pitchFamily="34" charset="0"/>
                        </a:rPr>
                        <a:t>75.76479</a:t>
                      </a:r>
                      <a:endParaRPr lang="en-US" sz="1800" b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0075381"/>
                  </a:ext>
                </a:extLst>
              </a:tr>
              <a:tr h="5406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</a:rPr>
                        <a:t>Dim.4</a:t>
                      </a:r>
                      <a:endParaRPr lang="en-US" sz="18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1.056209</a:t>
                      </a:r>
                      <a:endParaRPr lang="en-US" sz="1800" b="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15.08870</a:t>
                      </a:r>
                      <a:endParaRPr lang="en-US" sz="1800" b="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90.85349</a:t>
                      </a: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04127715"/>
                  </a:ext>
                </a:extLst>
              </a:tr>
              <a:tr h="5639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</a:rPr>
                        <a:t>Dim.5</a:t>
                      </a:r>
                      <a:endParaRPr lang="en-US" sz="18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0.6179292</a:t>
                      </a:r>
                      <a:endParaRPr lang="en-US" sz="1800" b="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8.827560</a:t>
                      </a:r>
                      <a:endParaRPr lang="en-US" sz="1800" b="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99.68105</a:t>
                      </a:r>
                      <a:endParaRPr lang="en-US" sz="1800" b="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20454892"/>
                  </a:ext>
                </a:extLst>
              </a:tr>
              <a:tr h="5406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sz="1800" dirty="0">
                          <a:effectLst/>
                          <a:latin typeface="+mj-lt"/>
                        </a:rPr>
                        <a:t>Dim.6</a:t>
                      </a:r>
                      <a:endParaRPr lang="en-US" sz="18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0.02232631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0.3189473</a:t>
                      </a:r>
                      <a:endParaRPr lang="en-US" sz="1800" b="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100</a:t>
                      </a:r>
                      <a:endParaRPr lang="en-US" sz="1800" b="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3108178"/>
                  </a:ext>
                </a:extLst>
              </a:tr>
              <a:tr h="5369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sz="1800" dirty="0">
                          <a:effectLst/>
                          <a:latin typeface="+mj-lt"/>
                        </a:rPr>
                        <a:t>Dim.</a:t>
                      </a:r>
                      <a:r>
                        <a:rPr lang="en-US" sz="1800" dirty="0">
                          <a:effectLst/>
                          <a:latin typeface="+mj-lt"/>
                        </a:rPr>
                        <a:t>7</a:t>
                      </a:r>
                      <a:endParaRPr lang="en-US" sz="18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1.962440e-32</a:t>
                      </a:r>
                      <a:endParaRPr lang="en-US" sz="1800" b="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2.803486e-31</a:t>
                      </a:r>
                      <a:endParaRPr lang="en-US" sz="1800" b="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100</a:t>
                      </a:r>
                      <a:endParaRPr lang="en-US" sz="1800" b="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71224712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99E08AB7-3F47-FDAB-E2A5-BD054305349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036884" y="6314564"/>
            <a:ext cx="10092241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l-GR" sz="2000" dirty="0">
                <a:solidFill>
                  <a:schemeClr val="tx1"/>
                </a:solidFill>
              </a:rPr>
              <a:t>Με βάση το Κριτήριο του </a:t>
            </a:r>
            <a:r>
              <a:rPr lang="en-US" sz="2000" dirty="0">
                <a:solidFill>
                  <a:schemeClr val="tx1"/>
                </a:solidFill>
              </a:rPr>
              <a:t>Kaiser</a:t>
            </a:r>
            <a:r>
              <a:rPr lang="el-GR" sz="2000" dirty="0">
                <a:solidFill>
                  <a:schemeClr val="tx1"/>
                </a:solidFill>
              </a:rPr>
              <a:t> κρατάμε τις </a:t>
            </a:r>
            <a:r>
              <a:rPr lang="el-GR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l-GR" sz="2000" dirty="0">
                <a:solidFill>
                  <a:schemeClr val="tx1"/>
                </a:solidFill>
              </a:rPr>
              <a:t> πρώτες κύριες συνιστώσες.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84C155-6A7F-5B9F-0486-C1736E9C99C5}"/>
              </a:ext>
            </a:extLst>
          </p:cNvPr>
          <p:cNvSpPr txBox="1"/>
          <p:nvPr/>
        </p:nvSpPr>
        <p:spPr>
          <a:xfrm>
            <a:off x="370962" y="94373"/>
            <a:ext cx="2944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&gt; </a:t>
            </a:r>
            <a:r>
              <a:rPr lang="en-US" sz="2000" dirty="0" err="1">
                <a:solidFill>
                  <a:srgbClr val="0070C0"/>
                </a:solidFill>
              </a:rPr>
              <a:t>eig.val</a:t>
            </a:r>
            <a:endParaRPr lang="en-US" sz="20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800E014-04C3-F841-5BB5-0305C460587E}"/>
                  </a:ext>
                </a:extLst>
              </p14:cNvPr>
              <p14:cNvContentPartPr/>
              <p14:nvPr/>
            </p14:nvContentPartPr>
            <p14:xfrm>
              <a:off x="514016" y="4531554"/>
              <a:ext cx="1117755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800E014-04C3-F841-5BB5-0305C46058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5016" y="4522554"/>
                <a:ext cx="1119519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164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62DD2-CCAF-209F-B777-DCD912A61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573020"/>
            <a:ext cx="11029616" cy="598671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Corbel" panose="020B0503020204020204" pitchFamily="34" charset="0"/>
              </a:rPr>
              <a:t>Scree Plot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C3B827-11B6-17E9-2563-AE12CEFAC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1121" y="0"/>
            <a:ext cx="10058400" cy="598671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178EC3"/>
                </a:solidFill>
              </a:rPr>
              <a:t>&gt; </a:t>
            </a:r>
            <a:r>
              <a:rPr lang="en-US" sz="1800" dirty="0" err="1">
                <a:solidFill>
                  <a:srgbClr val="178EC3"/>
                </a:solidFill>
              </a:rPr>
              <a:t>fviz_eig</a:t>
            </a:r>
            <a:r>
              <a:rPr lang="en-US" sz="1800" dirty="0">
                <a:solidFill>
                  <a:srgbClr val="178EC3"/>
                </a:solidFill>
              </a:rPr>
              <a:t>(</a:t>
            </a:r>
            <a:r>
              <a:rPr lang="en-US" sz="1800" dirty="0" err="1">
                <a:solidFill>
                  <a:srgbClr val="178EC3"/>
                </a:solidFill>
              </a:rPr>
              <a:t>res.pca</a:t>
            </a:r>
            <a:r>
              <a:rPr lang="en-US" sz="1800" dirty="0">
                <a:solidFill>
                  <a:srgbClr val="178EC3"/>
                </a:solidFill>
              </a:rPr>
              <a:t>, </a:t>
            </a:r>
            <a:r>
              <a:rPr lang="en-US" sz="1800" dirty="0" err="1">
                <a:solidFill>
                  <a:srgbClr val="178EC3"/>
                </a:solidFill>
              </a:rPr>
              <a:t>addlabels</a:t>
            </a:r>
            <a:r>
              <a:rPr lang="en-US" sz="1800" dirty="0">
                <a:solidFill>
                  <a:srgbClr val="178EC3"/>
                </a:solidFill>
              </a:rPr>
              <a:t> = TRUE, </a:t>
            </a:r>
            <a:r>
              <a:rPr lang="en-US" sz="1800" dirty="0" err="1">
                <a:solidFill>
                  <a:srgbClr val="178EC3"/>
                </a:solidFill>
              </a:rPr>
              <a:t>ylim</a:t>
            </a:r>
            <a:r>
              <a:rPr lang="en-US" sz="1800" dirty="0">
                <a:solidFill>
                  <a:srgbClr val="178EC3"/>
                </a:solidFill>
              </a:rPr>
              <a:t> = c(0, 40))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9FC63F-5D3F-96B6-542C-41E4EF3AB3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13"/>
          <a:stretch/>
        </p:blipFill>
        <p:spPr>
          <a:xfrm>
            <a:off x="811335" y="1171691"/>
            <a:ext cx="10569329" cy="5686309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F7FFD38-6FB7-1A56-0648-D433F6F6F245}"/>
              </a:ext>
            </a:extLst>
          </p:cNvPr>
          <p:cNvSpPr/>
          <p:nvPr/>
        </p:nvSpPr>
        <p:spPr>
          <a:xfrm>
            <a:off x="7942307" y="1385945"/>
            <a:ext cx="3352632" cy="17526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If we stick with the first 5 PCs</a:t>
            </a:r>
            <a:r>
              <a:rPr lang="el-GR" dirty="0">
                <a:solidFill>
                  <a:schemeClr val="tx1"/>
                </a:solidFill>
              </a:rPr>
              <a:t>, </a:t>
            </a:r>
            <a:r>
              <a:rPr lang="en-US" dirty="0">
                <a:solidFill>
                  <a:schemeClr val="tx1"/>
                </a:solidFill>
              </a:rPr>
              <a:t>those will be able to interpret around</a:t>
            </a:r>
            <a:r>
              <a:rPr lang="el-GR" dirty="0">
                <a:solidFill>
                  <a:schemeClr val="tx1"/>
                </a:solidFill>
              </a:rPr>
              <a:t> </a:t>
            </a:r>
            <a:r>
              <a:rPr lang="el-GR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99.7% </a:t>
            </a:r>
            <a:r>
              <a:rPr lang="en-US" dirty="0">
                <a:solidFill>
                  <a:schemeClr val="tx1"/>
                </a:solidFill>
              </a:rPr>
              <a:t>of the overall original variance.</a:t>
            </a:r>
          </a:p>
        </p:txBody>
      </p:sp>
    </p:spTree>
    <p:extLst>
      <p:ext uri="{BB962C8B-B14F-4D97-AF65-F5344CB8AC3E}">
        <p14:creationId xmlns:p14="http://schemas.microsoft.com/office/powerpoint/2010/main" val="2136862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2683C-1777-03C9-EF16-7636CCB7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37" y="1109373"/>
            <a:ext cx="11029616" cy="566738"/>
          </a:xfrm>
        </p:spPr>
        <p:txBody>
          <a:bodyPr>
            <a:noAutofit/>
          </a:bodyPr>
          <a:lstStyle/>
          <a:p>
            <a:pPr marL="342900" indent="-34290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200" b="1" cap="none" dirty="0">
                <a:effectLst/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cos</a:t>
            </a:r>
            <a:r>
              <a:rPr lang="en-US" sz="3200" b="1" cap="non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:</a:t>
            </a:r>
            <a:r>
              <a:rPr lang="el-GR" sz="3200" b="1" cap="non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cap="none" dirty="0">
                <a:latin typeface="Corbel" panose="020B05030202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3200" b="1" cap="none" dirty="0">
                <a:effectLst/>
                <a:latin typeface="Corbel" panose="020B05030202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epresentation of the variables </a:t>
            </a:r>
            <a:br>
              <a:rPr lang="en-US" sz="3200" dirty="0">
                <a:effectLst/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3200" dirty="0">
              <a:latin typeface="Corbel" panose="020B0503020204020204" pitchFamily="34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610F49-E1FE-C9F6-2471-AF184E7A3C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7816" y="2411080"/>
            <a:ext cx="11290859" cy="3557252"/>
          </a:xfrm>
        </p:spPr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B9061-980A-305A-B5C3-EBB7B5B83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8241" y="-20722"/>
            <a:ext cx="11029617" cy="598671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178EC3"/>
                </a:solidFill>
              </a:rPr>
              <a:t>&gt; var$cos2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4770FD-35CA-01A1-2199-6FF35BAC3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974000"/>
              </p:ext>
            </p:extLst>
          </p:nvPr>
        </p:nvGraphicFramePr>
        <p:xfrm>
          <a:off x="447815" y="1170809"/>
          <a:ext cx="11290861" cy="55324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55330">
                  <a:extLst>
                    <a:ext uri="{9D8B030D-6E8A-4147-A177-3AD203B41FA5}">
                      <a16:colId xmlns:a16="http://schemas.microsoft.com/office/drawing/2014/main" val="1659838669"/>
                    </a:ext>
                  </a:extLst>
                </a:gridCol>
                <a:gridCol w="1872841">
                  <a:extLst>
                    <a:ext uri="{9D8B030D-6E8A-4147-A177-3AD203B41FA5}">
                      <a16:colId xmlns:a16="http://schemas.microsoft.com/office/drawing/2014/main" val="3257132244"/>
                    </a:ext>
                  </a:extLst>
                </a:gridCol>
                <a:gridCol w="1840088">
                  <a:extLst>
                    <a:ext uri="{9D8B030D-6E8A-4147-A177-3AD203B41FA5}">
                      <a16:colId xmlns:a16="http://schemas.microsoft.com/office/drawing/2014/main" val="3746940200"/>
                    </a:ext>
                  </a:extLst>
                </a:gridCol>
                <a:gridCol w="1840088">
                  <a:extLst>
                    <a:ext uri="{9D8B030D-6E8A-4147-A177-3AD203B41FA5}">
                      <a16:colId xmlns:a16="http://schemas.microsoft.com/office/drawing/2014/main" val="4353688"/>
                    </a:ext>
                  </a:extLst>
                </a:gridCol>
                <a:gridCol w="1841257">
                  <a:extLst>
                    <a:ext uri="{9D8B030D-6E8A-4147-A177-3AD203B41FA5}">
                      <a16:colId xmlns:a16="http://schemas.microsoft.com/office/drawing/2014/main" val="1519462834"/>
                    </a:ext>
                  </a:extLst>
                </a:gridCol>
                <a:gridCol w="1841257">
                  <a:extLst>
                    <a:ext uri="{9D8B030D-6E8A-4147-A177-3AD203B41FA5}">
                      <a16:colId xmlns:a16="http://schemas.microsoft.com/office/drawing/2014/main" val="3025363149"/>
                    </a:ext>
                  </a:extLst>
                </a:gridCol>
              </a:tblGrid>
              <a:tr h="660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Dim.1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Dim.2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Dim.3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Dim.4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Dim.5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75876149"/>
                  </a:ext>
                </a:extLst>
              </a:tr>
              <a:tr h="66035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CO2</a:t>
                      </a:r>
                      <a:r>
                        <a:rPr lang="el-GR" sz="1800" dirty="0">
                          <a:effectLst/>
                        </a:rPr>
                        <a:t>_</a:t>
                      </a:r>
                      <a:r>
                        <a:rPr lang="en-US" sz="1800" dirty="0">
                          <a:effectLst/>
                        </a:rPr>
                        <a:t>PC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0.00002390662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0.1174659888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0.5867717182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0.0434363293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0.2522355164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88890206"/>
                  </a:ext>
                </a:extLst>
              </a:tr>
              <a:tr h="63299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Real</a:t>
                      </a:r>
                      <a:r>
                        <a:rPr lang="el-GR" sz="1800" dirty="0">
                          <a:effectLst/>
                        </a:rPr>
                        <a:t>_</a:t>
                      </a:r>
                      <a:r>
                        <a:rPr lang="en-US" sz="1800" dirty="0">
                          <a:effectLst/>
                        </a:rPr>
                        <a:t>GDP</a:t>
                      </a:r>
                      <a:r>
                        <a:rPr lang="el-GR" sz="1800" dirty="0">
                          <a:effectLst/>
                        </a:rPr>
                        <a:t>_</a:t>
                      </a:r>
                      <a:r>
                        <a:rPr lang="en-US" sz="1800" dirty="0">
                          <a:effectLst/>
                        </a:rPr>
                        <a:t>PC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0.5236544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0.4466731055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0.0285137443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0.0008886259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0.0002694059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4643609"/>
                  </a:ext>
                </a:extLst>
              </a:tr>
              <a:tr h="63299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Population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0.5443880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0.4336837634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0.0001414212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0.0008186315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0.0096690434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41171716"/>
                  </a:ext>
                </a:extLst>
              </a:tr>
              <a:tr h="63299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Crop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0.03873184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0.0009990264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0.5210026870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0.2360088869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0.2032573956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7823910"/>
                  </a:ext>
                </a:extLst>
              </a:tr>
              <a:tr h="63299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Animal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0.05109650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0.0060480282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0.0440196897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0.7713719729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0.1274394701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37858286"/>
                  </a:ext>
                </a:extLst>
              </a:tr>
              <a:tr h="63299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GDP</a:t>
                      </a:r>
                      <a:r>
                        <a:rPr lang="el-GR" sz="1800" dirty="0">
                          <a:effectLst/>
                        </a:rPr>
                        <a:t>_</a:t>
                      </a:r>
                      <a:r>
                        <a:rPr lang="en-US" sz="1800" dirty="0">
                          <a:effectLst/>
                        </a:rPr>
                        <a:t>K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0.5236544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0.4466731055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0.0285137443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0.0008886259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0.0002694059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2473210"/>
                  </a:ext>
                </a:extLst>
              </a:tr>
              <a:tr h="1046793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sz="1800" dirty="0">
                          <a:effectLst/>
                        </a:rPr>
                        <a:t>NRG_consumption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0.5633257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0.3949650894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0.0031894781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0.0027960138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0.0247889542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37804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373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8E03-CF17-E5F4-A794-2843F31AE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791" y="-566738"/>
            <a:ext cx="11029616" cy="5667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FD7FB51-CEBF-7453-1C46-04D40FABFB1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19022" t="-646" r="15870" b="299"/>
          <a:stretch/>
        </p:blipFill>
        <p:spPr>
          <a:xfrm>
            <a:off x="352590" y="950169"/>
            <a:ext cx="6381585" cy="565536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0B2C1-D4F2-1EFC-910C-AF51C3887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2590" y="0"/>
            <a:ext cx="11029617" cy="598671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178EC3"/>
                </a:solidFill>
              </a:rPr>
              <a:t>&gt; </a:t>
            </a:r>
            <a:r>
              <a:rPr lang="en-US" sz="2000" dirty="0" err="1">
                <a:solidFill>
                  <a:srgbClr val="178EC3"/>
                </a:solidFill>
              </a:rPr>
              <a:t>corrplot</a:t>
            </a:r>
            <a:r>
              <a:rPr lang="en-US" sz="2000" dirty="0">
                <a:solidFill>
                  <a:srgbClr val="178EC3"/>
                </a:solidFill>
              </a:rPr>
              <a:t>(var$cos2, </a:t>
            </a:r>
            <a:r>
              <a:rPr lang="en-US" sz="2000" dirty="0" err="1">
                <a:solidFill>
                  <a:srgbClr val="178EC3"/>
                </a:solidFill>
              </a:rPr>
              <a:t>is.corr</a:t>
            </a:r>
            <a:r>
              <a:rPr lang="en-US" sz="2000" dirty="0">
                <a:solidFill>
                  <a:srgbClr val="178EC3"/>
                </a:solidFill>
              </a:rPr>
              <a:t>=FALSE)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993BA-C138-9874-239A-FE71DA3DEC67}"/>
              </a:ext>
            </a:extLst>
          </p:cNvPr>
          <p:cNvSpPr txBox="1"/>
          <p:nvPr/>
        </p:nvSpPr>
        <p:spPr>
          <a:xfrm flipH="1">
            <a:off x="7085350" y="1377195"/>
            <a:ext cx="403559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The bigger and bolder the color is, the more significant the variable in that Principal Component is.</a:t>
            </a:r>
            <a:endParaRPr lang="el-GR" dirty="0">
              <a:latin typeface="+mj-lt"/>
            </a:endParaRPr>
          </a:p>
          <a:p>
            <a:endParaRPr lang="el-G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NRG_consumption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Population,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Real_GDP_PC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, GDP_K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are represented at a higher rate in the first and second principal components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endParaRPr kumimoji="0" lang="el-G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+mj-lt"/>
              </a:rPr>
              <a:t>CO2_PC and Crop play a significant role in PC3.</a:t>
            </a:r>
          </a:p>
          <a:p>
            <a:endParaRPr lang="el-GR" dirty="0">
              <a:latin typeface="+mj-lt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fourth principal component mostly concerns the variable Animal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957862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FB9B-C21F-018D-B51A-D2E1CF181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l-GR" sz="3200" b="1" dirty="0">
                <a:effectLst/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Σ</a:t>
            </a:r>
            <a:r>
              <a:rPr lang="el-GR" sz="3200" b="1" cap="none" dirty="0">
                <a:effectLst/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υνεισφορά/</a:t>
            </a:r>
            <a:r>
              <a:rPr lang="en-US" sz="3200" b="1" cap="none" dirty="0">
                <a:effectLst/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contribution </a:t>
            </a:r>
            <a:r>
              <a:rPr lang="el-GR" sz="3200" b="1" cap="none" dirty="0">
                <a:effectLst/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(%) των μεταβλητών στις </a:t>
            </a:r>
            <a:r>
              <a:rPr lang="en-US" sz="3200" b="1" cap="none" dirty="0">
                <a:effectLst/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PCs</a:t>
            </a:r>
            <a:endParaRPr lang="en-US" sz="3200" dirty="0">
              <a:latin typeface="Corbel" panose="020B0503020204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743CC-B777-7E0F-BF9B-591AA378F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672" y="0"/>
            <a:ext cx="11029617" cy="598671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178EC3"/>
                </a:solidFill>
              </a:rPr>
              <a:t>&gt; </a:t>
            </a:r>
            <a:r>
              <a:rPr lang="en-US" sz="2000" dirty="0" err="1">
                <a:solidFill>
                  <a:srgbClr val="178EC3"/>
                </a:solidFill>
              </a:rPr>
              <a:t>var$contrib</a:t>
            </a:r>
            <a:endParaRPr lang="en-US" sz="2000" dirty="0">
              <a:solidFill>
                <a:srgbClr val="178EC3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6E0F58B-9F48-57D0-7EF3-45E99418E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299533"/>
              </p:ext>
            </p:extLst>
          </p:nvPr>
        </p:nvGraphicFramePr>
        <p:xfrm>
          <a:off x="435209" y="1309607"/>
          <a:ext cx="11321581" cy="53293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0940">
                  <a:extLst>
                    <a:ext uri="{9D8B030D-6E8A-4147-A177-3AD203B41FA5}">
                      <a16:colId xmlns:a16="http://schemas.microsoft.com/office/drawing/2014/main" val="52996515"/>
                    </a:ext>
                  </a:extLst>
                </a:gridCol>
                <a:gridCol w="1881499">
                  <a:extLst>
                    <a:ext uri="{9D8B030D-6E8A-4147-A177-3AD203B41FA5}">
                      <a16:colId xmlns:a16="http://schemas.microsoft.com/office/drawing/2014/main" val="2288940567"/>
                    </a:ext>
                  </a:extLst>
                </a:gridCol>
                <a:gridCol w="1861703">
                  <a:extLst>
                    <a:ext uri="{9D8B030D-6E8A-4147-A177-3AD203B41FA5}">
                      <a16:colId xmlns:a16="http://schemas.microsoft.com/office/drawing/2014/main" val="2476227944"/>
                    </a:ext>
                  </a:extLst>
                </a:gridCol>
                <a:gridCol w="1861703">
                  <a:extLst>
                    <a:ext uri="{9D8B030D-6E8A-4147-A177-3AD203B41FA5}">
                      <a16:colId xmlns:a16="http://schemas.microsoft.com/office/drawing/2014/main" val="3605889701"/>
                    </a:ext>
                  </a:extLst>
                </a:gridCol>
                <a:gridCol w="1862868">
                  <a:extLst>
                    <a:ext uri="{9D8B030D-6E8A-4147-A177-3AD203B41FA5}">
                      <a16:colId xmlns:a16="http://schemas.microsoft.com/office/drawing/2014/main" val="983920579"/>
                    </a:ext>
                  </a:extLst>
                </a:gridCol>
                <a:gridCol w="1862868">
                  <a:extLst>
                    <a:ext uri="{9D8B030D-6E8A-4147-A177-3AD203B41FA5}">
                      <a16:colId xmlns:a16="http://schemas.microsoft.com/office/drawing/2014/main" val="1627047194"/>
                    </a:ext>
                  </a:extLst>
                </a:gridCol>
              </a:tblGrid>
              <a:tr h="41446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sz="10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Dim.</a:t>
                      </a:r>
                      <a:r>
                        <a:rPr lang="en-US" sz="1800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1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Dim.</a:t>
                      </a:r>
                      <a:r>
                        <a:rPr lang="en-US" sz="1800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2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Dim.</a:t>
                      </a:r>
                      <a:r>
                        <a:rPr lang="en-US" sz="1800" dirty="0">
                          <a:effectLst/>
                          <a:latin typeface="+mn-lt"/>
                          <a:cs typeface="Calibri" panose="020F0502020204030204" pitchFamily="34" charset="0"/>
                        </a:rPr>
                        <a:t>3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Dim.4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Dim.5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05058479"/>
                  </a:ext>
                </a:extLst>
              </a:tr>
              <a:tr h="65372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CO2</a:t>
                      </a:r>
                      <a:r>
                        <a:rPr lang="el-GR" sz="1800" dirty="0">
                          <a:effectLst/>
                        </a:rPr>
                        <a:t>_</a:t>
                      </a:r>
                      <a:r>
                        <a:rPr lang="en-US" sz="1800" dirty="0">
                          <a:effectLst/>
                        </a:rPr>
                        <a:t>PC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0.001064942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6.36152034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48.40741792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4.11247450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40.81948545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82558360"/>
                  </a:ext>
                </a:extLst>
              </a:tr>
              <a:tr h="65372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Real</a:t>
                      </a:r>
                      <a:r>
                        <a:rPr lang="el-GR" sz="1800" dirty="0">
                          <a:effectLst/>
                        </a:rPr>
                        <a:t>_</a:t>
                      </a:r>
                      <a:r>
                        <a:rPr lang="en-US" sz="1800" dirty="0">
                          <a:effectLst/>
                        </a:rPr>
                        <a:t>GDP</a:t>
                      </a:r>
                      <a:r>
                        <a:rPr lang="el-GR" sz="1800" dirty="0">
                          <a:effectLst/>
                        </a:rPr>
                        <a:t>_</a:t>
                      </a:r>
                      <a:r>
                        <a:rPr lang="en-US" sz="1800" dirty="0">
                          <a:effectLst/>
                        </a:rPr>
                        <a:t>PC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23.32666457</a:t>
                      </a:r>
                      <a:r>
                        <a:rPr lang="el-GR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24.19015133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2.35232322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0.08413352 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0.04359818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2846007"/>
                  </a:ext>
                </a:extLst>
              </a:tr>
              <a:tr h="65372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Population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24.250260463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23.48669696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0.01166695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0.07750658 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1.56474942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3631392"/>
                  </a:ext>
                </a:extLst>
              </a:tr>
              <a:tr h="65372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Crop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1.725345338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0.05410355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42.98161283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22.34490216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32.89331503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5304383"/>
                  </a:ext>
                </a:extLst>
              </a:tr>
              <a:tr h="65372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Animal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2.276140172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0.32753867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3.63153071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73.03212811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20.62363647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4972238"/>
                  </a:ext>
                </a:extLst>
              </a:tr>
              <a:tr h="65372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GDP</a:t>
                      </a:r>
                      <a:r>
                        <a:rPr lang="el-GR" sz="1800" dirty="0">
                          <a:effectLst/>
                        </a:rPr>
                        <a:t>_</a:t>
                      </a:r>
                      <a:r>
                        <a:rPr lang="en-US" sz="1800" dirty="0">
                          <a:effectLst/>
                        </a:rPr>
                        <a:t>K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23.326664571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24.19015133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2.35232322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0.08413352 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0.04359818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66325094"/>
                  </a:ext>
                </a:extLst>
              </a:tr>
              <a:tr h="99250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sz="1800" dirty="0">
                          <a:effectLst/>
                        </a:rPr>
                        <a:t>NRG</a:t>
                      </a:r>
                    </a:p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sz="1800" dirty="0">
                          <a:effectLst/>
                        </a:rPr>
                        <a:t>_consumption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25.093859943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  <a:r>
                        <a:rPr lang="el-GR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.38983782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0.26312515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0.26472162 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4.01161727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45024875"/>
                  </a:ext>
                </a:extLst>
              </a:tr>
            </a:tbl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897A2C63-9286-A28B-F499-43A26EC1E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23999" y="2903901"/>
            <a:ext cx="19507042" cy="72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22F4EB-98B1-A072-1E80-6B7950A44AE2}"/>
              </a:ext>
            </a:extLst>
          </p:cNvPr>
          <p:cNvSpPr txBox="1"/>
          <p:nvPr/>
        </p:nvSpPr>
        <p:spPr>
          <a:xfrm>
            <a:off x="435208" y="598671"/>
            <a:ext cx="11321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Contribution </a:t>
            </a:r>
            <a:r>
              <a:rPr lang="el-GR" sz="3200" b="1" dirty="0">
                <a:solidFill>
                  <a:schemeClr val="accent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(%) </a:t>
            </a:r>
            <a:r>
              <a:rPr lang="en-US" sz="3200" b="1" dirty="0">
                <a:solidFill>
                  <a:schemeClr val="accent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of </a:t>
            </a:r>
            <a:r>
              <a:rPr lang="en-US" sz="3200" b="1" dirty="0">
                <a:solidFill>
                  <a:schemeClr val="accent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chemeClr val="accent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Variables</a:t>
            </a:r>
            <a:endParaRPr lang="en-US" sz="3200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76868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AF70B39-D2C4-17FA-C1BE-52F248DBFB9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19720" t="-167" r="15731" b="687"/>
          <a:stretch/>
        </p:blipFill>
        <p:spPr>
          <a:xfrm>
            <a:off x="267119" y="753626"/>
            <a:ext cx="6096000" cy="592350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0AC31-E19A-1FEB-04E5-9C80673E5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2567" y="9175"/>
            <a:ext cx="11029617" cy="598671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178EC3"/>
                </a:solidFill>
              </a:rPr>
              <a:t>&gt; </a:t>
            </a:r>
            <a:r>
              <a:rPr lang="en-US" sz="2000" dirty="0" err="1">
                <a:solidFill>
                  <a:srgbClr val="178EC3"/>
                </a:solidFill>
              </a:rPr>
              <a:t>corrplot</a:t>
            </a:r>
            <a:r>
              <a:rPr lang="en-US" sz="2000" dirty="0">
                <a:solidFill>
                  <a:srgbClr val="178EC3"/>
                </a:solidFill>
              </a:rPr>
              <a:t>(</a:t>
            </a:r>
            <a:r>
              <a:rPr lang="en-US" sz="2000" dirty="0" err="1">
                <a:solidFill>
                  <a:srgbClr val="178EC3"/>
                </a:solidFill>
              </a:rPr>
              <a:t>var$contrib</a:t>
            </a:r>
            <a:r>
              <a:rPr lang="en-US" sz="2000" dirty="0">
                <a:solidFill>
                  <a:srgbClr val="178EC3"/>
                </a:solidFill>
              </a:rPr>
              <a:t>, </a:t>
            </a:r>
            <a:r>
              <a:rPr lang="en-US" sz="2000" dirty="0" err="1">
                <a:solidFill>
                  <a:srgbClr val="178EC3"/>
                </a:solidFill>
              </a:rPr>
              <a:t>is.corr</a:t>
            </a:r>
            <a:r>
              <a:rPr lang="en-US" sz="2000" dirty="0">
                <a:solidFill>
                  <a:srgbClr val="178EC3"/>
                </a:solidFill>
              </a:rPr>
              <a:t>=FALSE)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C4DE2-B271-F63C-3806-AC61A2C7A9E2}"/>
              </a:ext>
            </a:extLst>
          </p:cNvPr>
          <p:cNvSpPr txBox="1"/>
          <p:nvPr/>
        </p:nvSpPr>
        <p:spPr>
          <a:xfrm>
            <a:off x="7043894" y="1453219"/>
            <a:ext cx="416001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plot shows the contribution of each variable to the top 5 principal components</a:t>
            </a:r>
            <a:endParaRPr lang="el-G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variables</a:t>
            </a:r>
            <a:r>
              <a:rPr lang="el-GR" dirty="0"/>
              <a:t> </a:t>
            </a:r>
            <a:r>
              <a:rPr lang="en-US" dirty="0"/>
              <a:t> </a:t>
            </a:r>
            <a:r>
              <a:rPr lang="en-US" dirty="0" err="1"/>
              <a:t>Real_GDP_PC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dirty="0"/>
              <a:t> Population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dirty="0"/>
              <a:t> GDP_K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dirty="0"/>
              <a:t> </a:t>
            </a:r>
            <a:r>
              <a:rPr lang="en-US" dirty="0" err="1"/>
              <a:t>NRG_consumption</a:t>
            </a:r>
            <a:r>
              <a:rPr lang="en-US" dirty="0"/>
              <a:t> contribute the most to the dimensions 1 and 2.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CO2_PC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contributes more to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dimension 3 and 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Crop contributes to dimensions 3, 4 and 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Animal contributes more to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PC4 and less to PC5.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787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72E11-838E-99E5-F187-070C6265D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1591"/>
            <a:ext cx="11029616" cy="566738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effectLst/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Coordinates of variables </a:t>
            </a:r>
            <a:endParaRPr lang="en-US" sz="3200" dirty="0">
              <a:latin typeface="Corbel" panose="020B0503020204020204" pitchFamily="34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16ECC0-B43D-8BE8-24D0-FBD3D3FC9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3324" y="1371250"/>
            <a:ext cx="11290859" cy="3557252"/>
          </a:xfrm>
        </p:spPr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05721-CE59-BACD-AC37-14BA1492B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3324" y="0"/>
            <a:ext cx="11029617" cy="598671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178EC3"/>
                </a:solidFill>
              </a:rPr>
              <a:t>&gt; </a:t>
            </a:r>
            <a:r>
              <a:rPr lang="en-US" sz="2000" dirty="0" err="1">
                <a:solidFill>
                  <a:srgbClr val="178EC3"/>
                </a:solidFill>
              </a:rPr>
              <a:t>var$coord</a:t>
            </a:r>
            <a:endParaRPr lang="en-US" sz="2000" dirty="0">
              <a:solidFill>
                <a:srgbClr val="178EC3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6412364-FA99-21C1-5E5B-96790AFFB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94093"/>
              </p:ext>
            </p:extLst>
          </p:nvPr>
        </p:nvGraphicFramePr>
        <p:xfrm>
          <a:off x="447818" y="1371249"/>
          <a:ext cx="11290859" cy="50295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80437">
                  <a:extLst>
                    <a:ext uri="{9D8B030D-6E8A-4147-A177-3AD203B41FA5}">
                      <a16:colId xmlns:a16="http://schemas.microsoft.com/office/drawing/2014/main" val="217940732"/>
                    </a:ext>
                  </a:extLst>
                </a:gridCol>
                <a:gridCol w="1860957">
                  <a:extLst>
                    <a:ext uri="{9D8B030D-6E8A-4147-A177-3AD203B41FA5}">
                      <a16:colId xmlns:a16="http://schemas.microsoft.com/office/drawing/2014/main" val="3932693404"/>
                    </a:ext>
                  </a:extLst>
                </a:gridCol>
                <a:gridCol w="1860957">
                  <a:extLst>
                    <a:ext uri="{9D8B030D-6E8A-4147-A177-3AD203B41FA5}">
                      <a16:colId xmlns:a16="http://schemas.microsoft.com/office/drawing/2014/main" val="3118612473"/>
                    </a:ext>
                  </a:extLst>
                </a:gridCol>
                <a:gridCol w="1862084">
                  <a:extLst>
                    <a:ext uri="{9D8B030D-6E8A-4147-A177-3AD203B41FA5}">
                      <a16:colId xmlns:a16="http://schemas.microsoft.com/office/drawing/2014/main" val="2951264499"/>
                    </a:ext>
                  </a:extLst>
                </a:gridCol>
                <a:gridCol w="1863212">
                  <a:extLst>
                    <a:ext uri="{9D8B030D-6E8A-4147-A177-3AD203B41FA5}">
                      <a16:colId xmlns:a16="http://schemas.microsoft.com/office/drawing/2014/main" val="406834893"/>
                    </a:ext>
                  </a:extLst>
                </a:gridCol>
                <a:gridCol w="1863212">
                  <a:extLst>
                    <a:ext uri="{9D8B030D-6E8A-4147-A177-3AD203B41FA5}">
                      <a16:colId xmlns:a16="http://schemas.microsoft.com/office/drawing/2014/main" val="1322818559"/>
                    </a:ext>
                  </a:extLst>
                </a:gridCol>
              </a:tblGrid>
              <a:tr h="566107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Dim.1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Dim.2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Dim.3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Dim.4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Dim.5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88700732"/>
                  </a:ext>
                </a:extLst>
              </a:tr>
              <a:tr h="58714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CO2_PC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0.00488944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-0.34273312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0.76601026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-0.20841384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0.50223054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7306221"/>
                  </a:ext>
                </a:extLst>
              </a:tr>
              <a:tr h="566107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Real_GDP_PC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-0.72363970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0.66833607 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0.16886013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-0.02980983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0.01641359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29896248"/>
                  </a:ext>
                </a:extLst>
              </a:tr>
              <a:tr h="566107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Population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0.73782653 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0.65854671 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0.01189206 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0.02861174 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0.09833129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8605671"/>
                  </a:ext>
                </a:extLst>
              </a:tr>
              <a:tr h="58714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Crop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0.19680407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-0.03160738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0.72180516 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0.48580746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-0.45084077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44922169"/>
                  </a:ext>
                </a:extLst>
              </a:tr>
              <a:tr h="566107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Animal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-0.22604534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-0.07776907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-0.20980870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0.87827784 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0.35698665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98283462"/>
                  </a:ext>
                </a:extLst>
              </a:tr>
              <a:tr h="566107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GDP_K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-0.72363970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0.66833607 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0.16886013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-0.02980983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0.01641359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55895824"/>
                  </a:ext>
                </a:extLst>
              </a:tr>
              <a:tr h="102472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sz="1800" dirty="0">
                          <a:effectLst/>
                        </a:rPr>
                        <a:t>NRG</a:t>
                      </a:r>
                    </a:p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sz="1800" dirty="0">
                          <a:effectLst/>
                        </a:rPr>
                        <a:t>_consumption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0.75055029 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0.62846248 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0.05647546 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0.05287735 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0.15744508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78332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499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067CC-9F96-A7D2-F897-5EC57AD69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38" y="599725"/>
            <a:ext cx="11029616" cy="566738"/>
          </a:xfrm>
        </p:spPr>
        <p:txBody>
          <a:bodyPr>
            <a:noAutofit/>
          </a:bodyPr>
          <a:lstStyle/>
          <a:p>
            <a:pPr algn="ctr"/>
            <a:r>
              <a:rPr lang="en-US" sz="3200" b="1" cap="none" dirty="0"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</a:t>
            </a:r>
            <a:r>
              <a:rPr lang="el-GR" sz="3200" b="1" cap="none" dirty="0">
                <a:effectLst/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cap="none" dirty="0">
                <a:effectLst/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cos</a:t>
            </a:r>
            <a:r>
              <a:rPr lang="el-GR" sz="3200" b="1" cap="non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l-GR" sz="3200" b="1" cap="none" dirty="0">
                <a:effectLst/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cap="none" dirty="0">
                <a:effectLst/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 first two dimensions</a:t>
            </a:r>
            <a:endParaRPr lang="en-US" sz="3200" b="1" cap="none" dirty="0">
              <a:latin typeface="Corbel" panose="020B0503020204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710B0-2344-BAF0-4C33-FBA06E594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2592" y="1054"/>
            <a:ext cx="11029617" cy="598671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178EC3"/>
                </a:solidFill>
              </a:rPr>
              <a:t>&gt; fviz_cos2(</a:t>
            </a:r>
            <a:r>
              <a:rPr lang="en-US" sz="2000" dirty="0" err="1">
                <a:solidFill>
                  <a:srgbClr val="178EC3"/>
                </a:solidFill>
              </a:rPr>
              <a:t>res.pca</a:t>
            </a:r>
            <a:r>
              <a:rPr lang="en-US" sz="2000" dirty="0">
                <a:solidFill>
                  <a:srgbClr val="178EC3"/>
                </a:solidFill>
              </a:rPr>
              <a:t>, choice = "var", axes = 1:2)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8B4060-4C1C-2EF8-2DAF-4DC39C8D8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41" y="1166463"/>
            <a:ext cx="10744008" cy="569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281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8FB0-D9F4-5688-2AAC-0854A05FA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88" y="382102"/>
            <a:ext cx="11669420" cy="830426"/>
          </a:xfrm>
        </p:spPr>
        <p:txBody>
          <a:bodyPr>
            <a:noAutofit/>
          </a:bodyPr>
          <a:lstStyle/>
          <a:p>
            <a:pPr algn="ctr"/>
            <a:r>
              <a:rPr lang="en-US" sz="3200" b="1" cap="none" dirty="0"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Contribution of the variables to</a:t>
            </a:r>
            <a:r>
              <a:rPr lang="el-GR" sz="3200" b="1" cap="none" dirty="0">
                <a:effectLst/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cap="none" dirty="0">
                <a:effectLst/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PC</a:t>
            </a:r>
            <a:r>
              <a:rPr lang="el-GR" sz="3200" b="1" cap="non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l-GR" sz="3200" b="1" cap="none" dirty="0">
                <a:effectLst/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200" cap="none" dirty="0">
              <a:latin typeface="Corbel" panose="020B0503020204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606C4E-125E-C390-8F90-56C12E5D9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3042" y="0"/>
            <a:ext cx="11029617" cy="598671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178EC3"/>
                </a:solidFill>
              </a:rPr>
              <a:t>&gt; </a:t>
            </a:r>
            <a:r>
              <a:rPr lang="en-US" sz="2000" dirty="0" err="1">
                <a:solidFill>
                  <a:srgbClr val="178EC3"/>
                </a:solidFill>
              </a:rPr>
              <a:t>fviz_contrib</a:t>
            </a:r>
            <a:r>
              <a:rPr lang="en-US" sz="2000" dirty="0">
                <a:solidFill>
                  <a:srgbClr val="178EC3"/>
                </a:solidFill>
              </a:rPr>
              <a:t>(</a:t>
            </a:r>
            <a:r>
              <a:rPr lang="en-US" sz="2000" dirty="0" err="1">
                <a:solidFill>
                  <a:srgbClr val="178EC3"/>
                </a:solidFill>
              </a:rPr>
              <a:t>res.pca</a:t>
            </a:r>
            <a:r>
              <a:rPr lang="en-US" sz="2000" dirty="0">
                <a:solidFill>
                  <a:srgbClr val="178EC3"/>
                </a:solidFill>
              </a:rPr>
              <a:t>, choice = "var", axes = 1, top = 10)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0DDD15-41D4-2C64-0B27-F83EACAD3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5" y="1280571"/>
            <a:ext cx="10372725" cy="557742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4F9CD44-16A4-0515-4F0A-42F3763245E4}"/>
              </a:ext>
            </a:extLst>
          </p:cNvPr>
          <p:cNvCxnSpPr/>
          <p:nvPr/>
        </p:nvCxnSpPr>
        <p:spPr>
          <a:xfrm flipH="1">
            <a:off x="9744075" y="2609850"/>
            <a:ext cx="590550" cy="819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B792BF0D-F4B3-9F36-F061-C877E6CF52E7}"/>
              </a:ext>
            </a:extLst>
          </p:cNvPr>
          <p:cNvSpPr/>
          <p:nvPr/>
        </p:nvSpPr>
        <p:spPr>
          <a:xfrm>
            <a:off x="9348786" y="1827618"/>
            <a:ext cx="2142934" cy="897187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Average expected contribution</a:t>
            </a:r>
          </a:p>
        </p:txBody>
      </p:sp>
    </p:spTree>
    <p:extLst>
      <p:ext uri="{BB962C8B-B14F-4D97-AF65-F5344CB8AC3E}">
        <p14:creationId xmlns:p14="http://schemas.microsoft.com/office/powerpoint/2010/main" val="737734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82471-72D0-520A-2A01-AB3E6FD8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98671"/>
            <a:ext cx="11029616" cy="598671"/>
          </a:xfrm>
        </p:spPr>
        <p:txBody>
          <a:bodyPr>
            <a:noAutofit/>
          </a:bodyPr>
          <a:lstStyle/>
          <a:p>
            <a:pPr algn="ctr"/>
            <a:r>
              <a:rPr lang="en-US" sz="3200" b="1" cap="none" dirty="0">
                <a:effectLst/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Contribution of variables to PC</a:t>
            </a:r>
            <a:r>
              <a:rPr lang="el-GR" sz="3200" b="1" cap="non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</a:t>
            </a:r>
            <a:endParaRPr lang="en-US" sz="3200" cap="non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30B927-837A-6031-B57D-811B525505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1617" y="0"/>
            <a:ext cx="11029617" cy="598671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178EC3"/>
                </a:solidFill>
              </a:rPr>
              <a:t>&gt; </a:t>
            </a:r>
            <a:r>
              <a:rPr lang="en-US" sz="2000" dirty="0" err="1">
                <a:solidFill>
                  <a:srgbClr val="178EC3"/>
                </a:solidFill>
              </a:rPr>
              <a:t>fviz_contrib</a:t>
            </a:r>
            <a:r>
              <a:rPr lang="en-US" sz="2000" dirty="0">
                <a:solidFill>
                  <a:srgbClr val="178EC3"/>
                </a:solidFill>
              </a:rPr>
              <a:t>(</a:t>
            </a:r>
            <a:r>
              <a:rPr lang="en-US" sz="2000" dirty="0" err="1">
                <a:solidFill>
                  <a:srgbClr val="178EC3"/>
                </a:solidFill>
              </a:rPr>
              <a:t>res.pca</a:t>
            </a:r>
            <a:r>
              <a:rPr lang="en-US" sz="2000" dirty="0">
                <a:solidFill>
                  <a:srgbClr val="178EC3"/>
                </a:solidFill>
              </a:rPr>
              <a:t>, choice = "var", axes = 2, top = 10)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5AF650-C2FF-F8D6-1226-FECC447E2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16" y="1197342"/>
            <a:ext cx="10810567" cy="566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473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924F6-2C23-6433-D253-2F05D0C2D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637219"/>
            <a:ext cx="11029616" cy="101917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correlation circle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382E4D-E7FB-AE07-CE14-C90E56D02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142" y="-199835"/>
            <a:ext cx="11229665" cy="893248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rgbClr val="178EC3"/>
                </a:solidFill>
              </a:rPr>
              <a:t>&gt; </a:t>
            </a:r>
            <a:r>
              <a:rPr lang="en-US" sz="1400" dirty="0" err="1">
                <a:solidFill>
                  <a:srgbClr val="178EC3"/>
                </a:solidFill>
              </a:rPr>
              <a:t>fviz_pca_var</a:t>
            </a:r>
            <a:r>
              <a:rPr lang="en-US" sz="1400" dirty="0">
                <a:solidFill>
                  <a:srgbClr val="178EC3"/>
                </a:solidFill>
              </a:rPr>
              <a:t>(</a:t>
            </a:r>
            <a:r>
              <a:rPr lang="en-US" sz="1400" dirty="0" err="1">
                <a:solidFill>
                  <a:srgbClr val="178EC3"/>
                </a:solidFill>
              </a:rPr>
              <a:t>res.pca</a:t>
            </a:r>
            <a:r>
              <a:rPr lang="en-US" sz="1400" dirty="0">
                <a:solidFill>
                  <a:srgbClr val="178EC3"/>
                </a:solidFill>
              </a:rPr>
              <a:t>, </a:t>
            </a:r>
            <a:r>
              <a:rPr lang="en-US" sz="1400" dirty="0" err="1">
                <a:solidFill>
                  <a:srgbClr val="178EC3"/>
                </a:solidFill>
              </a:rPr>
              <a:t>col.var</a:t>
            </a:r>
            <a:r>
              <a:rPr lang="en-US" sz="1400" dirty="0">
                <a:solidFill>
                  <a:srgbClr val="178EC3"/>
                </a:solidFill>
              </a:rPr>
              <a:t> = "</a:t>
            </a:r>
            <a:r>
              <a:rPr lang="en-US" sz="1400" dirty="0" err="1">
                <a:solidFill>
                  <a:srgbClr val="178EC3"/>
                </a:solidFill>
              </a:rPr>
              <a:t>contrib</a:t>
            </a:r>
            <a:r>
              <a:rPr lang="en-US" sz="1400" dirty="0">
                <a:solidFill>
                  <a:srgbClr val="178EC3"/>
                </a:solidFill>
              </a:rPr>
              <a:t>", # Color by contributions to the PC </a:t>
            </a:r>
            <a:r>
              <a:rPr lang="en-US" sz="1400" dirty="0" err="1">
                <a:solidFill>
                  <a:srgbClr val="178EC3"/>
                </a:solidFill>
              </a:rPr>
              <a:t>gradient.cols</a:t>
            </a:r>
            <a:r>
              <a:rPr lang="en-US" sz="1400" dirty="0">
                <a:solidFill>
                  <a:srgbClr val="178EC3"/>
                </a:solidFill>
              </a:rPr>
              <a:t> = c("#00AFBB", "#E7B800", "#FC4E07"), repel = TRUE)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0FCB06-AE55-2D1E-E191-61E829E1DD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61" r="15562"/>
          <a:stretch/>
        </p:blipFill>
        <p:spPr>
          <a:xfrm>
            <a:off x="2952749" y="1304871"/>
            <a:ext cx="6286500" cy="5467404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DE9C8E-9046-5693-CDB3-37E944094C5A}"/>
              </a:ext>
            </a:extLst>
          </p:cNvPr>
          <p:cNvSpPr/>
          <p:nvPr/>
        </p:nvSpPr>
        <p:spPr>
          <a:xfrm>
            <a:off x="8953501" y="1309687"/>
            <a:ext cx="2562057" cy="128111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Population and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NRG_consumption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are positively correlated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851779B-F2FF-7D1C-D5C3-7D3715FF802B}"/>
              </a:ext>
            </a:extLst>
          </p:cNvPr>
          <p:cNvSpPr/>
          <p:nvPr/>
        </p:nvSpPr>
        <p:spPr>
          <a:xfrm>
            <a:off x="142875" y="1019175"/>
            <a:ext cx="3233371" cy="215610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GDP_K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Real_GDP_PC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Population,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NRG_consumption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contribute the most on the first two principal components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F2506B8-67EA-9E1A-9285-D66030BB9F11}"/>
              </a:ext>
            </a:extLst>
          </p:cNvPr>
          <p:cNvSpPr/>
          <p:nvPr/>
        </p:nvSpPr>
        <p:spPr>
          <a:xfrm>
            <a:off x="309633" y="4591104"/>
            <a:ext cx="2876408" cy="192404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CO2_PC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>
                <a:solidFill>
                  <a:schemeClr val="tx1"/>
                </a:solidFill>
              </a:rPr>
              <a:t> Animal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>
                <a:solidFill>
                  <a:schemeClr val="tx1"/>
                </a:solidFill>
              </a:rPr>
              <a:t>Crop are closer to the center of the graph</a:t>
            </a:r>
            <a:r>
              <a:rPr lang="el-GR" dirty="0">
                <a:solidFill>
                  <a:schemeClr val="tx1"/>
                </a:solidFill>
              </a:rPr>
              <a:t>, </a:t>
            </a:r>
            <a:r>
              <a:rPr lang="en-US" dirty="0">
                <a:solidFill>
                  <a:schemeClr val="tx1"/>
                </a:solidFill>
              </a:rPr>
              <a:t>meaning their contribution is weaker</a:t>
            </a:r>
            <a:r>
              <a:rPr lang="el-GR"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3069550-9973-CA14-93DC-6357319A9C40}"/>
              </a:ext>
            </a:extLst>
          </p:cNvPr>
          <p:cNvSpPr/>
          <p:nvPr/>
        </p:nvSpPr>
        <p:spPr>
          <a:xfrm>
            <a:off x="8420518" y="4908882"/>
            <a:ext cx="3461847" cy="151583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Variables</a:t>
            </a:r>
            <a:r>
              <a:rPr lang="el-GR" dirty="0">
                <a:solidFill>
                  <a:schemeClr val="tx1"/>
                </a:solidFill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GDP_K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Real_GDP_PC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  <a:r>
              <a:rPr lang="en-US" dirty="0">
                <a:solidFill>
                  <a:prstClr val="black"/>
                </a:solidFill>
                <a:latin typeface="Gill Sans MT" panose="020B0502020104020203"/>
              </a:rPr>
              <a:t>show a weak relationship/ low correlation with Population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.</a:t>
            </a:r>
            <a:r>
              <a:rPr lang="el-GR" dirty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316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FF6C-23A7-55A3-3E8C-DEFFEE38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13194"/>
            <a:ext cx="11029616" cy="566738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21B34"/>
                </a:solidFill>
                <a:effectLst/>
                <a:latin typeface="Corbel" panose="020B0503020204020204" pitchFamily="34" charset="0"/>
                <a:ea typeface="Times New Roman" panose="02020603050405020304" pitchFamily="18" charset="0"/>
              </a:rPr>
              <a:t>Graph of individuals</a:t>
            </a:r>
            <a:endParaRPr lang="en-US" sz="3200" dirty="0">
              <a:latin typeface="Corbel" panose="020B0503020204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60A3FC-6346-7AD5-0F3D-FFC74D526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1616" y="-58947"/>
            <a:ext cx="12182334" cy="637007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rgbClr val="178EC3"/>
                </a:solidFill>
              </a:rPr>
              <a:t>&gt; </a:t>
            </a:r>
            <a:r>
              <a:rPr lang="en-US" sz="1400" dirty="0" err="1">
                <a:solidFill>
                  <a:srgbClr val="178EC3"/>
                </a:solidFill>
              </a:rPr>
              <a:t>fviz_pca_ind</a:t>
            </a:r>
            <a:r>
              <a:rPr lang="en-US" sz="1400" dirty="0">
                <a:solidFill>
                  <a:srgbClr val="178EC3"/>
                </a:solidFill>
              </a:rPr>
              <a:t>(</a:t>
            </a:r>
            <a:r>
              <a:rPr lang="en-US" sz="1400" dirty="0" err="1">
                <a:solidFill>
                  <a:srgbClr val="178EC3"/>
                </a:solidFill>
              </a:rPr>
              <a:t>res.pca</a:t>
            </a:r>
            <a:r>
              <a:rPr lang="en-US" sz="1400" dirty="0">
                <a:solidFill>
                  <a:srgbClr val="178EC3"/>
                </a:solidFill>
              </a:rPr>
              <a:t>, </a:t>
            </a:r>
            <a:r>
              <a:rPr lang="en-US" sz="1400" dirty="0" err="1">
                <a:solidFill>
                  <a:srgbClr val="178EC3"/>
                </a:solidFill>
              </a:rPr>
              <a:t>col.ind</a:t>
            </a:r>
            <a:r>
              <a:rPr lang="en-US" sz="1400" dirty="0">
                <a:solidFill>
                  <a:srgbClr val="178EC3"/>
                </a:solidFill>
              </a:rPr>
              <a:t> = "cos2", # Color by the quality of representation</a:t>
            </a:r>
            <a:r>
              <a:rPr lang="el-GR" sz="1400" dirty="0">
                <a:solidFill>
                  <a:srgbClr val="178EC3"/>
                </a:solidFill>
              </a:rPr>
              <a:t> </a:t>
            </a:r>
            <a:r>
              <a:rPr lang="en-US" sz="1400" dirty="0" err="1">
                <a:solidFill>
                  <a:srgbClr val="178EC3"/>
                </a:solidFill>
              </a:rPr>
              <a:t>gradient.cols</a:t>
            </a:r>
            <a:r>
              <a:rPr lang="en-US" sz="1400" dirty="0">
                <a:solidFill>
                  <a:srgbClr val="178EC3"/>
                </a:solidFill>
              </a:rPr>
              <a:t> = c("#00AFBB", "#E7B800", "#FC4E07"),</a:t>
            </a:r>
            <a:r>
              <a:rPr lang="el-GR" sz="1400" dirty="0">
                <a:solidFill>
                  <a:srgbClr val="178EC3"/>
                </a:solidFill>
              </a:rPr>
              <a:t> </a:t>
            </a:r>
            <a:r>
              <a:rPr lang="en-US" sz="1400" dirty="0">
                <a:solidFill>
                  <a:srgbClr val="178EC3"/>
                </a:solidFill>
              </a:rPr>
              <a:t>repel = TRUE)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D496E9-7AD4-7792-7A79-ACAAA0DA6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137112"/>
            <a:ext cx="10706100" cy="567806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8EF76A3-6FD5-4F83-E511-2C054A64E397}"/>
              </a:ext>
            </a:extLst>
          </p:cNvPr>
          <p:cNvSpPr/>
          <p:nvPr/>
        </p:nvSpPr>
        <p:spPr>
          <a:xfrm>
            <a:off x="8829675" y="1604963"/>
            <a:ext cx="2076450" cy="114776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srgbClr val="021B34"/>
                </a:solidFill>
                <a:effectLst/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Individuals with a similar profile are grouped together</a:t>
            </a:r>
            <a:r>
              <a:rPr lang="el-GR" sz="1800">
                <a:solidFill>
                  <a:srgbClr val="021B34"/>
                </a:solidFill>
                <a:effectLst/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>
                <a:solidFill>
                  <a:srgbClr val="021B34"/>
                </a:solidFill>
                <a:effectLst/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dirty="0">
              <a:effectLst/>
              <a:latin typeface="Corbel" panose="020B05030202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2B57E11-A143-D2D5-A197-A9264344AC57}"/>
              </a:ext>
            </a:extLst>
          </p:cNvPr>
          <p:cNvSpPr/>
          <p:nvPr/>
        </p:nvSpPr>
        <p:spPr>
          <a:xfrm rot="1872230">
            <a:off x="1020443" y="1941896"/>
            <a:ext cx="3119280" cy="7955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HUNGARY</a:t>
            </a:r>
          </a:p>
        </p:txBody>
      </p:sp>
    </p:spTree>
    <p:extLst>
      <p:ext uri="{BB962C8B-B14F-4D97-AF65-F5344CB8AC3E}">
        <p14:creationId xmlns:p14="http://schemas.microsoft.com/office/powerpoint/2010/main" val="422572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BE98C-3A12-53AB-8B50-27F0ACAEA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37" y="514350"/>
            <a:ext cx="11029616" cy="99197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effectLst/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Biplot of individuals and variables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33C99-0DE6-3446-A6DD-B717C56D8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361" y="-146870"/>
            <a:ext cx="11029617" cy="1104997"/>
          </a:xfrm>
        </p:spPr>
        <p:txBody>
          <a:bodyPr>
            <a:normAutofit/>
          </a:bodyPr>
          <a:lstStyle/>
          <a:p>
            <a:r>
              <a:rPr lang="el-GR" sz="1600" dirty="0">
                <a:solidFill>
                  <a:srgbClr val="178EC3"/>
                </a:solidFill>
              </a:rPr>
              <a:t>&gt; </a:t>
            </a:r>
            <a:r>
              <a:rPr lang="en-US" sz="1600" dirty="0" err="1">
                <a:solidFill>
                  <a:srgbClr val="178EC3"/>
                </a:solidFill>
              </a:rPr>
              <a:t>fviz_pca_biplot</a:t>
            </a:r>
            <a:r>
              <a:rPr lang="en-US" sz="1600" dirty="0">
                <a:solidFill>
                  <a:srgbClr val="178EC3"/>
                </a:solidFill>
              </a:rPr>
              <a:t>(</a:t>
            </a:r>
            <a:r>
              <a:rPr lang="en-US" sz="1600" dirty="0" err="1">
                <a:solidFill>
                  <a:srgbClr val="178EC3"/>
                </a:solidFill>
              </a:rPr>
              <a:t>res.pca</a:t>
            </a:r>
            <a:r>
              <a:rPr lang="en-US" sz="1600" dirty="0">
                <a:solidFill>
                  <a:srgbClr val="178EC3"/>
                </a:solidFill>
              </a:rPr>
              <a:t>, repel = TRUE,</a:t>
            </a:r>
            <a:r>
              <a:rPr lang="el-GR" sz="1600" dirty="0">
                <a:solidFill>
                  <a:srgbClr val="178EC3"/>
                </a:solidFill>
              </a:rPr>
              <a:t> </a:t>
            </a:r>
            <a:r>
              <a:rPr lang="en-US" sz="1600" dirty="0" err="1">
                <a:solidFill>
                  <a:srgbClr val="178EC3"/>
                </a:solidFill>
              </a:rPr>
              <a:t>col.var</a:t>
            </a:r>
            <a:r>
              <a:rPr lang="en-US" sz="1600" dirty="0">
                <a:solidFill>
                  <a:srgbClr val="178EC3"/>
                </a:solidFill>
              </a:rPr>
              <a:t> = "#2E9FDF", # Variables color</a:t>
            </a:r>
            <a:r>
              <a:rPr lang="el-GR" sz="1600" dirty="0">
                <a:solidFill>
                  <a:srgbClr val="178EC3"/>
                </a:solidFill>
              </a:rPr>
              <a:t> </a:t>
            </a:r>
            <a:r>
              <a:rPr lang="en-US" sz="1600" dirty="0" err="1">
                <a:solidFill>
                  <a:srgbClr val="178EC3"/>
                </a:solidFill>
              </a:rPr>
              <a:t>col.ind</a:t>
            </a:r>
            <a:r>
              <a:rPr lang="en-US" sz="1600" dirty="0">
                <a:solidFill>
                  <a:srgbClr val="178EC3"/>
                </a:solidFill>
              </a:rPr>
              <a:t> = "#696969"  # Individuals color) </a:t>
            </a:r>
            <a:r>
              <a:rPr lang="en-US" sz="1600" dirty="0"/>
              <a:t>                            </a:t>
            </a:r>
          </a:p>
          <a:p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4ED72-49B2-2D86-1942-E023BB86C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311" y="1235422"/>
            <a:ext cx="9947868" cy="562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57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82EA4-EE30-F20C-5B65-76004F116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453" y="511238"/>
            <a:ext cx="11029616" cy="1013800"/>
          </a:xfrm>
        </p:spPr>
        <p:txBody>
          <a:bodyPr>
            <a:normAutofit/>
          </a:bodyPr>
          <a:lstStyle/>
          <a:p>
            <a:pPr algn="ctr"/>
            <a:r>
              <a:rPr lang="el-GR" sz="3600" b="1" dirty="0"/>
              <a:t>βΙΒλιογραφια</a:t>
            </a:r>
            <a:endParaRPr lang="en-US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870065-B913-ECCB-D754-ECDF93B19094}"/>
              </a:ext>
            </a:extLst>
          </p:cNvPr>
          <p:cNvSpPr txBox="1"/>
          <p:nvPr/>
        </p:nvSpPr>
        <p:spPr>
          <a:xfrm>
            <a:off x="558453" y="2255271"/>
            <a:ext cx="1107509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PCA - Principal Component </a:t>
            </a:r>
            <a:r>
              <a:rPr lang="fr-FR" sz="2000" dirty="0" err="1">
                <a:solidFill>
                  <a:schemeClr val="tx1">
                    <a:lumMod val="75000"/>
                    <a:lumOff val="2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Analysis</a:t>
            </a:r>
            <a:r>
              <a:rPr lang="fr-FR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Essentials - Articles – STHDA</a:t>
            </a:r>
            <a:endParaRPr lang="fr-F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fr-F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fr-FR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Principal Component </a:t>
            </a:r>
            <a:r>
              <a:rPr lang="fr-FR" sz="2000" dirty="0" err="1">
                <a:solidFill>
                  <a:schemeClr val="tx1">
                    <a:lumMod val="75000"/>
                    <a:lumOff val="2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Analysis</a:t>
            </a:r>
            <a:r>
              <a:rPr lang="fr-FR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in R: </a:t>
            </a:r>
            <a:r>
              <a:rPr lang="fr-FR" sz="2000" dirty="0" err="1">
                <a:solidFill>
                  <a:schemeClr val="tx1">
                    <a:lumMod val="75000"/>
                    <a:lumOff val="2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prcomp</a:t>
            </a:r>
            <a:r>
              <a:rPr lang="fr-FR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vs </a:t>
            </a:r>
            <a:r>
              <a:rPr lang="fr-FR" sz="2000" dirty="0" err="1">
                <a:solidFill>
                  <a:schemeClr val="tx1">
                    <a:lumMod val="75000"/>
                    <a:lumOff val="2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princomp</a:t>
            </a:r>
            <a:r>
              <a:rPr lang="fr-FR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Articles – STHDA</a:t>
            </a:r>
            <a:endParaRPr lang="el-G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fr-F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l-GR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Δημήτριος Καρλής - Πολυμεταβλητή Στατιστική Ανάλυση (2003).pdf (uoa.gr)</a:t>
            </a:r>
            <a:endParaRPr lang="el-G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fr-F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Dziadek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B.,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Iskra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J.,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Przednowek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K. (2018). Principal Component Analysis in the Study of Structure of the Best Polish Decathlon Competitors from the Period between 1985 –2015. Central European Journal of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Spor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 Sciences and Medicine, 3 (23), 77–87. DOI: 10.18276/cej.2018.3-08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l-G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Principal component analysis (utdallas.edu)</a:t>
            </a:r>
            <a:endParaRPr lang="el-G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l-G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3853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EDF58D2-7135-F412-75F5-E8DE5E04F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ement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A7B3B6-8491-110C-C92E-87D992E942FA}"/>
              </a:ext>
            </a:extLst>
          </p:cNvPr>
          <p:cNvSpPr txBox="1"/>
          <p:nvPr/>
        </p:nvSpPr>
        <p:spPr>
          <a:xfrm>
            <a:off x="1912882" y="2652848"/>
            <a:ext cx="8366235" cy="1708160"/>
          </a:xfrm>
          <a:prstGeom prst="rect">
            <a:avLst/>
          </a:prstGeom>
          <a:noFill/>
          <a:effectLst>
            <a:glow rad="101600">
              <a:schemeClr val="tx1">
                <a:alpha val="60000"/>
              </a:schemeClr>
            </a:glow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0500" b="1" i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alace Script MT" panose="030303020206070C0B05" pitchFamily="66" charset="0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38096703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1166</TotalTime>
  <Words>1192</Words>
  <Application>Microsoft Office PowerPoint</Application>
  <PresentationFormat>Widescreen</PresentationFormat>
  <Paragraphs>326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Corbel</vt:lpstr>
      <vt:lpstr>Gill Sans MT</vt:lpstr>
      <vt:lpstr>Palace Script MT</vt:lpstr>
      <vt:lpstr>Wingdings</vt:lpstr>
      <vt:lpstr>Wingdings 2</vt:lpstr>
      <vt:lpstr>Dividend</vt:lpstr>
      <vt:lpstr>Eu environmental pollutants </vt:lpstr>
      <vt:lpstr>Principal Component Analysis (PCA)</vt:lpstr>
      <vt:lpstr>PowerPoint Presentation</vt:lpstr>
      <vt:lpstr>Correlatioin matrix</vt:lpstr>
      <vt:lpstr>  eigenvalue  |  Variance  |  comulative var</vt:lpstr>
      <vt:lpstr>Scree Plot </vt:lpstr>
      <vt:lpstr> cos2 : Representation of the variables  </vt:lpstr>
      <vt:lpstr>PowerPoint Presentation</vt:lpstr>
      <vt:lpstr>Συνεισφορά/contribution (%) των μεταβλητών στις PCs</vt:lpstr>
      <vt:lpstr>PowerPoint Presentation</vt:lpstr>
      <vt:lpstr>Coordinates of variables </vt:lpstr>
      <vt:lpstr>Total cos2 of the first two dimensions</vt:lpstr>
      <vt:lpstr>Contribution of the variables to PC1 </vt:lpstr>
      <vt:lpstr>Contribution of variables to PC2 </vt:lpstr>
      <vt:lpstr>correlation circle </vt:lpstr>
      <vt:lpstr>Graph of individuals</vt:lpstr>
      <vt:lpstr>Biplot of individuals and variables </vt:lpstr>
      <vt:lpstr>βΙΒλιογραφια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Εισαγωγη στην αναλυση δεδομενων  ευαγγελι Σουκου</dc:title>
  <dc:creator>Eva Suku</dc:creator>
  <cp:lastModifiedBy>Ευαγγελία Σούκου</cp:lastModifiedBy>
  <cp:revision>54</cp:revision>
  <dcterms:created xsi:type="dcterms:W3CDTF">2022-06-03T12:27:06Z</dcterms:created>
  <dcterms:modified xsi:type="dcterms:W3CDTF">2026-04-28T08:12:29Z</dcterms:modified>
</cp:coreProperties>
</file>